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</p:embeddedFont>
    <p:embeddedFont>
      <p:font typeface="Roboto Bold" panose="020B0604020202020204" charset="0"/>
      <p:regular r:id="rId18"/>
    </p:embeddedFont>
    <p:embeddedFont>
      <p:font typeface="Roboto Mono Light" panose="00000009000000000000" pitchFamily="49" charset="0"/>
      <p:regular r:id="rId19"/>
    </p:embeddedFont>
    <p:embeddedFont>
      <p:font typeface="Roboto Mono Medium" panose="020F0502020204030204" pitchFamily="49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829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99310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Customer Behavior &amp; Retail Sales Analytics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5787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structured analysis of </a:t>
            </a:r>
            <a:r>
              <a:rPr lang="en-US" sz="1450" b="1" kern="0" spc="-15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~3,900 customer records</a:t>
            </a: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transaction-level purchase data — uncovering how demographics, subscriptions, discounts and shipping choices shape revenue across a retail product catalog.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577755"/>
            <a:ext cx="1811391" cy="287139"/>
          </a:xfrm>
          <a:prstGeom prst="roundRect">
            <a:avLst>
              <a:gd name="adj" fmla="val 7899"/>
            </a:avLst>
          </a:prstGeom>
          <a:solidFill>
            <a:srgbClr val="3D4D00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634409"/>
            <a:ext cx="219416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PREPARED BY NISCHAY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139206" y="4577755"/>
            <a:ext cx="2330590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DCFF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52610" y="4634409"/>
            <a:ext cx="271336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15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· SQL · BI DASHBOARD</a:t>
            </a:r>
            <a:endParaRPr lang="en-US" sz="11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82A3BF-4DB9-BB37-8623-7BC63153EAA5}"/>
              </a:ext>
            </a:extLst>
          </p:cNvPr>
          <p:cNvSpPr/>
          <p:nvPr/>
        </p:nvSpPr>
        <p:spPr>
          <a:xfrm>
            <a:off x="11094720" y="6574971"/>
            <a:ext cx="1027611" cy="209006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923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Headline Numbers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82366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kern="0" spc="-14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3.9K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64229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Customers Analyzed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213915" y="1782366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kern="0" spc="-14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$233K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6213915" y="264229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Total Revenue Covered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410049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kern="0" spc="-14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661475" y="426997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Product Categories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213915" y="3410049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kern="0" spc="-14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3.75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6213915" y="426997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Avg. Review Rating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661475" y="4777879"/>
            <a:ext cx="10868745" cy="1360785"/>
          </a:xfrm>
          <a:prstGeom prst="roundRect">
            <a:avLst>
              <a:gd name="adj" fmla="val 2084"/>
            </a:avLst>
          </a:prstGeom>
          <a:solidFill>
            <a:srgbClr val="668000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045571"/>
            <a:ext cx="236234" cy="1890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75723" y="5014119"/>
            <a:ext cx="1006549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kern="0" spc="-15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Core takeaway:</a:t>
            </a:r>
            <a:r>
              <a:rPr lang="en-US" sz="1450" kern="0" spc="-1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Revenue is driven far more by </a:t>
            </a:r>
            <a:r>
              <a:rPr lang="en-US" sz="1450" b="1" kern="0" spc="-15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customer volume</a:t>
            </a:r>
            <a:r>
              <a:rPr lang="en-US" sz="1450" kern="0" spc="-1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than by any single high-value segment — non-subscribers, standard-shipping and "loyal" customers dominate simply because they are the largest groups, while average spend per person is remarkably flat across almost every slice.</a:t>
            </a:r>
            <a:endParaRPr lang="en-US" sz="14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342289-E05C-8CAF-DE92-490A8E3B1417}"/>
              </a:ext>
            </a:extLst>
          </p:cNvPr>
          <p:cNvSpPr/>
          <p:nvPr/>
        </p:nvSpPr>
        <p:spPr>
          <a:xfrm>
            <a:off x="11094720" y="6574971"/>
            <a:ext cx="1027611" cy="209006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9792"/>
            <a:ext cx="6296860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kern="0" spc="-88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Approach &amp; Methodology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61475" y="1200745"/>
            <a:ext cx="2976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0" spc="-35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61475" y="1434703"/>
            <a:ext cx="6296860" cy="1905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1547217"/>
            <a:ext cx="629686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44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 Cleaning &amp; Feature Engineering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1475" y="1849934"/>
            <a:ext cx="6296860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(pandas) to profile, clean and enrich 3,900 rows — imputing missing ratings, mapping purchase frequency to numeric days, deriving age groups, dropping redundant columns.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61475" y="2504380"/>
            <a:ext cx="2976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0" spc="-35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02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1475" y="2738338"/>
            <a:ext cx="6296860" cy="1905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10" name="Text 7"/>
          <p:cNvSpPr/>
          <p:nvPr/>
        </p:nvSpPr>
        <p:spPr>
          <a:xfrm>
            <a:off x="661475" y="2850852"/>
            <a:ext cx="629686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44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 Querying &amp; Aggregation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1475" y="3153569"/>
            <a:ext cx="6296860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queries across customer and purchase tables (839 transaction rows) to compute revenue, averages and rankings by gender, age, subscription, category and shipping.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61475" y="3808016"/>
            <a:ext cx="2976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0" spc="-35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61475" y="4041973"/>
            <a:ext cx="6296860" cy="1905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4154488"/>
            <a:ext cx="629686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44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Segmentation &amp; Ranking Logic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61475" y="4457204"/>
            <a:ext cx="6296860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Window-function rankings (top items per category, top-rated and most-discounted products) to surface relative winners inside each group.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61475" y="5111651"/>
            <a:ext cx="2976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0" spc="-35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61475" y="5345609"/>
            <a:ext cx="6296860" cy="19050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18" name="Text 15"/>
          <p:cNvSpPr/>
          <p:nvPr/>
        </p:nvSpPr>
        <p:spPr>
          <a:xfrm>
            <a:off x="661475" y="5458123"/>
            <a:ext cx="629686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44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Dashboard Consolidation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61475" y="5760839"/>
            <a:ext cx="6296860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filterable BI dashboard (subscription, gender, category, shipping) with KPI cards, donut, bar and horizontal-bar charts for live slicing.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7489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kern="0" spc="-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From Raw CSV to Warehouse-Ready Data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42" y="1480939"/>
            <a:ext cx="6227408" cy="35289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2189" y="1661319"/>
            <a:ext cx="3534282" cy="250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Missing ratings:</a:t>
            </a: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37 nulls imputed per category median via </a:t>
            </a:r>
            <a:r>
              <a:rPr lang="en-US" sz="1300" kern="0" spc="-13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frequency_of_purchases:</a:t>
            </a: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mapped to numeric days (Weekly → 7, Annually → 365)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age_group:</a:t>
            </a: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quartiles via </a:t>
            </a:r>
            <a:r>
              <a:rPr lang="en-US" sz="1300" kern="0" spc="-13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pd.qcut</a:t>
            </a: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Young Adult, Adult, Middle-aged, Senior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promo_code_used</a:t>
            </a: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dropped: perfect duplicate of </a:t>
            </a:r>
            <a:r>
              <a:rPr lang="en-US" sz="1300" kern="0" spc="-13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discount_applied</a:t>
            </a: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all 3,900 rows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002189" y="4305895"/>
            <a:ext cx="3534282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Cleaned DataFrame loaded into PostgreSQL </a:t>
            </a:r>
            <a:r>
              <a:rPr lang="en-US" sz="1300" kern="0" spc="-13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table via </a:t>
            </a:r>
            <a:r>
              <a:rPr lang="en-US" sz="130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SQLAlchemy + psycopg2</a:t>
            </a: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5354340"/>
            <a:ext cx="3520788" cy="956171"/>
          </a:xfrm>
          <a:prstGeom prst="roundRect">
            <a:avLst>
              <a:gd name="adj" fmla="val 2669"/>
            </a:avLst>
          </a:prstGeom>
          <a:solidFill>
            <a:srgbClr val="404040"/>
          </a:solidFill>
          <a:ln/>
        </p:spPr>
      </p:sp>
      <p:sp>
        <p:nvSpPr>
          <p:cNvPr id="7" name="Text 4"/>
          <p:cNvSpPr/>
          <p:nvPr/>
        </p:nvSpPr>
        <p:spPr>
          <a:xfrm>
            <a:off x="831532" y="5524401"/>
            <a:ext cx="318067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3,900 × 18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31532" y="5881886"/>
            <a:ext cx="318067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rows × columns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5354" y="5354340"/>
            <a:ext cx="3520888" cy="956171"/>
          </a:xfrm>
          <a:prstGeom prst="roundRect">
            <a:avLst>
              <a:gd name="adj" fmla="val 2669"/>
            </a:avLst>
          </a:prstGeom>
          <a:solidFill>
            <a:srgbClr val="404040"/>
          </a:solidFill>
          <a:ln/>
        </p:spPr>
      </p:sp>
      <p:sp>
        <p:nvSpPr>
          <p:cNvPr id="10" name="Text 7"/>
          <p:cNvSpPr/>
          <p:nvPr/>
        </p:nvSpPr>
        <p:spPr>
          <a:xfrm>
            <a:off x="4505411" y="5524401"/>
            <a:ext cx="318077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37 → 0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505411" y="5881886"/>
            <a:ext cx="318077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Nulls in Review Rating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09332" y="5354340"/>
            <a:ext cx="3520888" cy="956171"/>
          </a:xfrm>
          <a:prstGeom prst="roundRect">
            <a:avLst>
              <a:gd name="adj" fmla="val 2669"/>
            </a:avLst>
          </a:prstGeom>
          <a:solidFill>
            <a:srgbClr val="404040"/>
          </a:solidFill>
          <a:ln/>
        </p:spPr>
      </p:sp>
      <p:sp>
        <p:nvSpPr>
          <p:cNvPr id="13" name="Text 10"/>
          <p:cNvSpPr/>
          <p:nvPr/>
        </p:nvSpPr>
        <p:spPr>
          <a:xfrm>
            <a:off x="8179389" y="5524401"/>
            <a:ext cx="318077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18 → 15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179389" y="5881886"/>
            <a:ext cx="318077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Columns after cleanup</a:t>
            </a:r>
            <a:endParaRPr lang="en-US" sz="13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CB8E05-6487-BBFD-975F-5F4247CEA4AA}"/>
              </a:ext>
            </a:extLst>
          </p:cNvPr>
          <p:cNvSpPr/>
          <p:nvPr/>
        </p:nvSpPr>
        <p:spPr>
          <a:xfrm>
            <a:off x="11094720" y="6574971"/>
            <a:ext cx="1027611" cy="209006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90662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kern="0" spc="-106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Who the Customers Are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61475" y="1507728"/>
            <a:ext cx="3063104" cy="2524621"/>
          </a:xfrm>
          <a:prstGeom prst="roundRect">
            <a:avLst>
              <a:gd name="adj" fmla="val 1067"/>
            </a:avLst>
          </a:prstGeom>
          <a:solidFill>
            <a:srgbClr val="404040"/>
          </a:solidFill>
          <a:ln/>
        </p:spPr>
      </p:sp>
      <p:sp>
        <p:nvSpPr>
          <p:cNvPr id="5" name="Text 2"/>
          <p:cNvSpPr/>
          <p:nvPr/>
        </p:nvSpPr>
        <p:spPr>
          <a:xfrm>
            <a:off x="840957" y="1687215"/>
            <a:ext cx="27041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5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Customer Segments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40957" y="2070001"/>
            <a:ext cx="2704139" cy="1782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Loyal: </a:t>
            </a:r>
            <a:r>
              <a:rPr lang="en-US" sz="1400" b="1" kern="0" spc="-14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79.9%</a:t>
            </a: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(3,116)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Returning: 18.0% (701)</a:t>
            </a:r>
            <a:endParaRPr lang="en-US" sz="14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New: 2.1% (83)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Overwhelmingly retention-heavy base — new customers are a thin 2% sliver.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895131" y="1507728"/>
            <a:ext cx="3063203" cy="2524621"/>
          </a:xfrm>
          <a:prstGeom prst="roundRect">
            <a:avLst>
              <a:gd name="adj" fmla="val 1067"/>
            </a:avLst>
          </a:prstGeom>
          <a:solidFill>
            <a:srgbClr val="404040"/>
          </a:solidFill>
          <a:ln/>
        </p:spPr>
      </p:sp>
      <p:sp>
        <p:nvSpPr>
          <p:cNvPr id="8" name="Text 5"/>
          <p:cNvSpPr/>
          <p:nvPr/>
        </p:nvSpPr>
        <p:spPr>
          <a:xfrm>
            <a:off x="4074614" y="1687215"/>
            <a:ext cx="27042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5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Revenue by Gender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074614" y="2070001"/>
            <a:ext cx="2704239" cy="1782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Male: </a:t>
            </a:r>
            <a:r>
              <a:rPr lang="en-US" sz="1400" b="1" kern="0" spc="-14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$157,890 (67.7%)</a:t>
            </a:r>
            <a:endParaRPr lang="en-US" sz="14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Female: $75,191 (32.3%)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generate </a:t>
            </a:r>
            <a:r>
              <a:rPr lang="en-US" sz="1400" b="1" kern="0" spc="-14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2.1×</a:t>
            </a: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revenue of female customers — the largest single skew in the dataset.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1475" y="4202906"/>
            <a:ext cx="6296860" cy="1964432"/>
          </a:xfrm>
          <a:prstGeom prst="roundRect">
            <a:avLst>
              <a:gd name="adj" fmla="val 1371"/>
            </a:avLst>
          </a:prstGeom>
          <a:solidFill>
            <a:srgbClr val="404040"/>
          </a:solidFill>
          <a:ln/>
        </p:spPr>
      </p:sp>
      <p:sp>
        <p:nvSpPr>
          <p:cNvPr id="11" name="Text 8"/>
          <p:cNvSpPr/>
          <p:nvPr/>
        </p:nvSpPr>
        <p:spPr>
          <a:xfrm>
            <a:off x="840957" y="4382393"/>
            <a:ext cx="59378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5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Subscription vs. Spending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40957" y="4765179"/>
            <a:ext cx="5937895" cy="1222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No: $59.87 avg · $170,436 total</a:t>
            </a:r>
            <a:endParaRPr lang="en-US" sz="1400" dirty="0"/>
          </a:p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Yes: $59.49 avg · $62,645 total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Spend is virtually identical. Subscription is a </a:t>
            </a:r>
            <a:r>
              <a:rPr lang="en-US" sz="1400" b="1" kern="0" spc="-14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segmentation tag, not a spending multiplier</a:t>
            </a: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6492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kern="0" spc="-95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Loyalty &amp; Fulfillment Patterns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669852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47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Repeat Buyers by Subscription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2057400"/>
            <a:ext cx="5238421" cy="1073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Subscribers: </a:t>
            </a:r>
            <a:r>
              <a:rPr lang="en-US" sz="125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91.0%</a:t>
            </a: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repeat rate (958 of 1,053)</a:t>
            </a:r>
            <a:endParaRPr lang="en-US" sz="1250" dirty="0"/>
          </a:p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Non-subscribers: </a:t>
            </a:r>
            <a:r>
              <a:rPr lang="en-US" sz="125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88.4%</a:t>
            </a: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(2,518 of 2,847)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gap is small. Subscription's main value is marginally higher retention — not bigger baskets.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61475" y="3267670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47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Avg. Spend by Shipping Type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61475" y="3655219"/>
            <a:ext cx="5238421" cy="83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Express: </a:t>
            </a:r>
            <a:r>
              <a:rPr lang="en-US" sz="125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$60.48</a:t>
            </a: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Standard: </a:t>
            </a:r>
            <a:r>
              <a:rPr lang="en-US" sz="125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$58.46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 spenders pay ~3.5% more per order — a small but consistent signal that faster fulfillment correlates with slightly higher basket value.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98149" y="1669852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47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Revenue by Age Group</a:t>
            </a:r>
            <a:endParaRPr lang="en-US" sz="1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149" y="2074466"/>
            <a:ext cx="4452628" cy="320506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98149" y="5433120"/>
            <a:ext cx="523842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Notably flat:</a:t>
            </a: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gap between highest (Young Adult, $62.1K) and lowest (Senior, $55.8K) is under 11% — age is not a strong differentiator.</a:t>
            </a:r>
            <a:endParaRPr lang="en-US" sz="12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3D8FE-B5DB-3E20-1C47-53E1D4E04362}"/>
              </a:ext>
            </a:extLst>
          </p:cNvPr>
          <p:cNvSpPr/>
          <p:nvPr/>
        </p:nvSpPr>
        <p:spPr>
          <a:xfrm>
            <a:off x="11094720" y="6574971"/>
            <a:ext cx="1027611" cy="209006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3630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kern="0" spc="-95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What Sells, What Rates Well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626989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47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Top-Rated Products</a:t>
            </a:r>
            <a:endParaRPr lang="en-US" sz="15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31603"/>
          <a:ext cx="5238420" cy="2516524"/>
        </p:xfrm>
        <a:graphic>
          <a:graphicData uri="http://schemas.openxmlformats.org/drawingml/2006/table">
            <a:tbl>
              <a:tblPr/>
              <a:tblGrid>
                <a:gridCol w="2619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Item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Avg. Rating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Gloves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3.86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Sandals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3.84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Boots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3.82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Hat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3.80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Skirt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3.78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298149" y="1626989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47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Most Heavily Discounted</a:t>
            </a:r>
            <a:endParaRPr lang="en-US" sz="15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8149" y="2031603"/>
          <a:ext cx="5238420" cy="2516524"/>
        </p:xfrm>
        <a:graphic>
          <a:graphicData uri="http://schemas.openxmlformats.org/drawingml/2006/table">
            <a:tbl>
              <a:tblPr/>
              <a:tblGrid>
                <a:gridCol w="2619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Item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Discount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Hat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50%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Sneakers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49%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Coat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49%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4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Sweater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48%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Pants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kern="0" spc="-13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47%</a:t>
                      </a:r>
                      <a:endParaRPr lang="en-US" sz="12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0666" marR="160666" marT="6350" marB="6350"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6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61475" y="4868069"/>
            <a:ext cx="10868745" cy="814983"/>
          </a:xfrm>
          <a:prstGeom prst="roundRect">
            <a:avLst>
              <a:gd name="adj" fmla="val 2957"/>
            </a:avLst>
          </a:prstGeom>
          <a:solidFill>
            <a:srgbClr val="66800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6" y="5062835"/>
            <a:ext cx="200814" cy="1606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3551" y="5044678"/>
            <a:ext cx="1018603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13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Hat</a:t>
            </a:r>
            <a:r>
              <a:rPr lang="en-US" sz="1250" kern="0" spc="-13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appears on both lists — deepest discount (50%) yet top-5 rated (3.80). Ratings across the catalog are tightly banded (3.78–3.86), so heavy discounting looks like a pricing/promo strategy, not a reaction to poor quality.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661475" y="5836642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Order counts for category leaders sit in a tight 145–171 band — no single product dominates its category. Demand is broad-based across the catalog.</a:t>
            </a:r>
            <a:endParaRPr lang="en-US" sz="12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521E26-8289-7F37-45D6-47849B9A4D14}"/>
              </a:ext>
            </a:extLst>
          </p:cNvPr>
          <p:cNvSpPr/>
          <p:nvPr/>
        </p:nvSpPr>
        <p:spPr>
          <a:xfrm>
            <a:off x="11094720" y="6574971"/>
            <a:ext cx="1027611" cy="209006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627" y="497393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73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Interactive BI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627" y="1107529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kern="0" spc="-1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findings consolidated into a single filterable dashboard — sliced live by subscription status, gender, category and shipping type.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885" y="1450677"/>
            <a:ext cx="7498081" cy="39566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5769372"/>
            <a:ext cx="2657309" cy="809724"/>
          </a:xfrm>
          <a:prstGeom prst="roundRect">
            <a:avLst>
              <a:gd name="adj" fmla="val 2276"/>
            </a:avLst>
          </a:prstGeom>
          <a:solidFill>
            <a:srgbClr val="404040"/>
          </a:solidFill>
          <a:ln/>
        </p:spPr>
      </p:sp>
      <p:sp>
        <p:nvSpPr>
          <p:cNvPr id="6" name="Text 3"/>
          <p:cNvSpPr/>
          <p:nvPr/>
        </p:nvSpPr>
        <p:spPr>
          <a:xfrm>
            <a:off x="784305" y="5892205"/>
            <a:ext cx="241165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3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KPI Cards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4305" y="6132017"/>
            <a:ext cx="2411650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3.9K Customers · $59.76 Avg. Purchase · 3.75 Avg. Rating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398554" y="5769372"/>
            <a:ext cx="2657409" cy="809724"/>
          </a:xfrm>
          <a:prstGeom prst="roundRect">
            <a:avLst>
              <a:gd name="adj" fmla="val 2276"/>
            </a:avLst>
          </a:prstGeom>
          <a:solidFill>
            <a:srgbClr val="404040"/>
          </a:solidFill>
          <a:ln/>
        </p:spPr>
      </p:sp>
      <p:sp>
        <p:nvSpPr>
          <p:cNvPr id="9" name="Text 6"/>
          <p:cNvSpPr/>
          <p:nvPr/>
        </p:nvSpPr>
        <p:spPr>
          <a:xfrm>
            <a:off x="3521384" y="5892205"/>
            <a:ext cx="241174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3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Subscription Split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21384" y="6132017"/>
            <a:ext cx="241174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Yes: 27% · No: 73%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35732" y="5769372"/>
            <a:ext cx="2657309" cy="809724"/>
          </a:xfrm>
          <a:prstGeom prst="roundRect">
            <a:avLst>
              <a:gd name="adj" fmla="val 2276"/>
            </a:avLst>
          </a:prstGeom>
          <a:solidFill>
            <a:srgbClr val="404040"/>
          </a:solidFill>
          <a:ln/>
        </p:spPr>
      </p:sp>
      <p:sp>
        <p:nvSpPr>
          <p:cNvPr id="12" name="Text 9"/>
          <p:cNvSpPr/>
          <p:nvPr/>
        </p:nvSpPr>
        <p:spPr>
          <a:xfrm>
            <a:off x="6258562" y="5892205"/>
            <a:ext cx="241165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3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Revenue by Category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58562" y="6132017"/>
            <a:ext cx="2411650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Clothing ~$90K · Accessories ~$70K · Footwear ~$40K · Outerwear ~$20K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872810" y="5769372"/>
            <a:ext cx="2657409" cy="809724"/>
          </a:xfrm>
          <a:prstGeom prst="roundRect">
            <a:avLst>
              <a:gd name="adj" fmla="val 2276"/>
            </a:avLst>
          </a:prstGeom>
          <a:solidFill>
            <a:srgbClr val="404040"/>
          </a:solidFill>
          <a:ln/>
        </p:spPr>
      </p:sp>
      <p:sp>
        <p:nvSpPr>
          <p:cNvPr id="15" name="Text 12"/>
          <p:cNvSpPr/>
          <p:nvPr/>
        </p:nvSpPr>
        <p:spPr>
          <a:xfrm>
            <a:off x="8995641" y="5892205"/>
            <a:ext cx="241174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3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Sales by Age Group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995641" y="6132017"/>
            <a:ext cx="241174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Young Adult ~950 · Middle-aged ~900 · Senior ~850 · Adult ~800</a:t>
            </a:r>
            <a:endParaRPr lang="en-US" sz="9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34C429-A79A-15DB-7CFA-A5A39F46F9AB}"/>
              </a:ext>
            </a:extLst>
          </p:cNvPr>
          <p:cNvSpPr/>
          <p:nvPr/>
        </p:nvSpPr>
        <p:spPr>
          <a:xfrm>
            <a:off x="11094720" y="6574971"/>
            <a:ext cx="1027611" cy="209006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89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kern="0" spc="-106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Insights &amp; Next Actions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61195"/>
            <a:ext cx="3509180" cy="21934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7954" y="1666081"/>
            <a:ext cx="2997820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5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1. Investigate the gender revenue gap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7954" y="2329359"/>
            <a:ext cx="299782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drive 67.7% of revenue — check whether it's driven by basket size, order frequency, or category mix.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208" y="1461195"/>
            <a:ext cx="3509180" cy="21934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7687" y="1666081"/>
            <a:ext cx="2997820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5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2. Redesign the subscription program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647687" y="2329359"/>
            <a:ext cx="299782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Subscribers spend the same and churn only slightly less. Add spend-linked benefits (tiered rewards, free Express shipping).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0941" y="1461195"/>
            <a:ext cx="3509180" cy="21934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27420" y="1666081"/>
            <a:ext cx="2997820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5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3. Use Express shipping as a soft upsell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8327420" y="2329359"/>
            <a:ext cx="299782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$2 gap between Express and Standard spenders is small but consistent — test free Express above a spend threshold.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825180"/>
            <a:ext cx="3509180" cy="24739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7954" y="4030067"/>
            <a:ext cx="2997820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5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4. Re-evaluate deep discounting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967954" y="4693345"/>
            <a:ext cx="299782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Hat, Sneakers and Coat carry ~48–50% discounts while rating comparably to full-priced items — likely over-discounted.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1208" y="3825180"/>
            <a:ext cx="3509180" cy="24739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47687" y="4030067"/>
            <a:ext cx="2997820" cy="841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5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5. Treat age and category demand as stable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4647687" y="4973836"/>
            <a:ext cx="299782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are evenly distributed — optimize operations (inventory, fulfillment) around this evenness rather than chasing a "winner."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4A4CF4-FD34-AB27-1153-0302CA5B6455}"/>
              </a:ext>
            </a:extLst>
          </p:cNvPr>
          <p:cNvSpPr/>
          <p:nvPr/>
        </p:nvSpPr>
        <p:spPr>
          <a:xfrm>
            <a:off x="11094720" y="6574971"/>
            <a:ext cx="1027611" cy="209006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35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Tools &amp; Method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52203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460923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Python (pandas)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869605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profiling, cleaning, imputation and feature engineering on the raw 3,900-row dataset.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752203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460923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SQL · PostgreSQL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2869605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Aggregation, ranking, joins and window functions across customer and purchase tables.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852466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56118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BI Dashboard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4969867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Filterable, stakeholder-facing visualization with KPIs, donut, bar and horizontal-bar charts.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3852466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56118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Customer Segmentation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4969867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Loyal / Returning / New segments, age quartiles, gender and subscription-based groupings.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61475" y="5787330"/>
            <a:ext cx="1172240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DCFF5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74879" y="5843984"/>
            <a:ext cx="155501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15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SQLALCHEMY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1928169" y="5787330"/>
            <a:ext cx="970930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DCFF5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2041573" y="5843984"/>
            <a:ext cx="135370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15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PSYCOPG2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2993553" y="5787330"/>
            <a:ext cx="846612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DCFF5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106957" y="5843984"/>
            <a:ext cx="122938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15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VIZ</a:t>
            </a:r>
            <a:endParaRPr lang="en-US" sz="11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7A88BB-499F-86D3-CFB5-CE6D1217E60D}"/>
              </a:ext>
            </a:extLst>
          </p:cNvPr>
          <p:cNvSpPr/>
          <p:nvPr/>
        </p:nvSpPr>
        <p:spPr>
          <a:xfrm>
            <a:off x="11094720" y="6574971"/>
            <a:ext cx="1027611" cy="209006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1019</Words>
  <Application>Microsoft Office PowerPoint</Application>
  <PresentationFormat>Widescreen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Consolas</vt:lpstr>
      <vt:lpstr>Roboto Mono Medium</vt:lpstr>
      <vt:lpstr>Roboto Mono Light</vt:lpstr>
      <vt:lpstr>Roboto Bold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lastModifiedBy>Nischay Mittal</cp:lastModifiedBy>
  <cp:revision>2</cp:revision>
  <dcterms:created xsi:type="dcterms:W3CDTF">2026-09-19T12:20:11Z</dcterms:created>
  <dcterms:modified xsi:type="dcterms:W3CDTF">2026-09-19T12:24:38Z</dcterms:modified>
</cp:coreProperties>
</file>